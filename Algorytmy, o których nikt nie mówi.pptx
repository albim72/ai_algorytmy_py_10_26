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Otwarcie. Sieci neuronowe już omówiliśmy. Teraz cztery akty, każdy podważa to, co uznaliśmy za oczywiste w poprzednim. Zasada: przed każdym algorytmem zadaję pytanie albo proszę o zakład.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modułu. Każdy akt zaczyna się od pytania do sali. Trzy dema na żywo: hyperdimensional computing (dolar Meksyku), klasyfikator gzip, odrastająca jaszczurka 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Pytanie do sali: czy da się zbudować działającą sieć, nie trenując ani jednej wagi? Zbierz odpowiedzi, potem pokaż wiadro wody.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Klucz: losowa dynamika rzutuje dane do bogatej, wysokowymiarowej przestrzeni, w której problem staje się liniowo separowalny. Wiadro wody robi to samo: fizyka wykonuje obliczenia. Dziś są rezerwuary fotoniczne i spintroniczne.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Pytanie do sali: czy uczenie to tworzenie wiedzy, czy wycinanie jej z szumu? Rzeźbiarz nie dodaje marmuru, tylko go usuwa.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Puenta aktu I: dowolny układ fizyczny o bogatej dynamice może być warstwą sieci. Granica między komputerem a światem się rozmywa.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Przejście: wiemy już, że trening nie zawsze jest potrzebny. Teraz zajrzymy do wnętrza wytrenowanych modeli i zobaczymy, co same w sobie odkryły.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wzór: softmax(β·X^T·ξ) to jednocześnie attention i krok aktualizacji sieci Hopfielda. Energia, atraktory, pamięć asocjacyjna: fizyka statystyczna w sercu GPT.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Nikt jej nie uczył Fouriera. Kluczowa rola weight decay: kompresja wypycha sieć z zapamiętywania w stronę prostszego, ogólnego algorytmu. Pytanie: ile jeszcze takich odkryć siedzi w dużych modelach?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Pierwszy skalpel w „myślach” modelu: cechy da się nie tylko odczytać, ale i sterować nimi. To fundament interpretowalności mechanistycznej i bezpieczeństwa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Praktyka: na tym opiera się dzisiejszy model merging (TIES, DARE), dzięki któremu społeczność łączy modele bez dodatkowego treningu.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Uczciwe zastrzeżenie: wynik wykazano na prostszych transformerach i zadaniach regresji liniowej. To mocna hipoteza mechanizmu, nie pełne wyjaśnienie ICL w dużych LLM-ach.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Przejście: a co, jeśli sieć neuronowa w ogóle nie jest potrzebna? Trzy zupełnie inne drogi do inteligentnego zachowania.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na żywo: wektory bipolarne ±1, wiązanie = mnożenie po elementach, sumowanie = suma ze znakiem. Zakoduj USA i Meksyk, policz dolar · (USA · MEKSYK) i znajdź najbliższy wektor w pamięci: peso. Zastosowania: sprzęt niskoenergetyczny, robotyka, biosygnały.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Dwie lekcje w jednej. Pierwsza: złożoność Kołmogorowa w praktyce, kompresja jako miara podobieństwa. Druga: wyniki były zawyżone przez sposób liczenia dokładności, ale metoda nadal jest ciekawa przy małej ilości danych. Demo na żywo z gzip i kNN.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Organizm bez mózgu i bez neuronów rozwiązuje problem projektowania sieci transportowej. Z obserwacji powstał model matematyczny i algorytm projektowania sieci.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Przejście do finału: algorytmy, które same się naprawiają, robią wiele z niczego i wymyślają rzeczy, których nie wymyślił człowiek.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interaktywne jest w artykule na distill.pub: kursanci mogą sami „ranić” jaszczurkę myszką. Współautor Michael Levin bada bioelektryczną regenerację u żywych organizmów.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Najpierw zakład: niech sala zgadnie, ile neuronów trzeba. Zwykle padają miliony. Dopiero potem odsłoń slajd. Kontekst: liquid time-constant networks, z których wyrósł startup Liquid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Algorytm, który odkrywa algorytmy. Wcześniej AlphaTensor (2022) robił podobne rzeczy dla innych rozmiarów. AlphaEvolve poprawił też harmonogramowanie w centrach danych Google i kilka problemów kombinatorycznych.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Zamknięcie: wróć do pytania z otwarcia. Czym właściwie jest uczenie? Zaproś do dyskusji i pytań.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87761"/>
            <a:ext cx="10566400" cy="395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87761"/>
            <a:ext cx="10566400" cy="395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7743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SZKOLENIE AI · MODUŁ ZAAWANSOWANY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8027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Algorytmy, o których nikt nie mówi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3447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pomysłów, które zmieniają myślenie o sztucznej inteligencji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 Marcin Albiniak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PODRÓŻY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Sieci neuronowe już znacie. Teraz cztery akty, które podważą to, co wydaje się oczywiste.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743002"/>
            <a:ext cx="2489200" cy="3098998"/>
          </a:xfrm>
          <a:prstGeom prst="roundRect">
            <a:avLst>
              <a:gd name="adj" fmla="val 4082"/>
            </a:avLst>
          </a:prstGeom>
          <a:solidFill>
            <a:srgbClr val="FBF8F2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743002"/>
            <a:ext cx="2489200" cy="3098998"/>
          </a:xfrm>
          <a:custGeom>
            <a:avLst/>
            <a:gdLst/>
            <a:ahLst/>
            <a:cxnLst/>
            <a:rect l="l" t="t" r="r" b="b"/>
            <a:pathLst>
              <a:path w="2489200" h="309899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387600" y="0"/>
                </a:lnTo>
                <a:arcTo hR="101600" wR="101600" stAng="16200000" swAng="5400000"/>
                <a:lnTo>
                  <a:pt x="24892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3035102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3375422"/>
            <a:ext cx="204063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Sieci bez treningu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05200" y="2743002"/>
            <a:ext cx="2489200" cy="3098998"/>
          </a:xfrm>
          <a:prstGeom prst="roundRect">
            <a:avLst>
              <a:gd name="adj" fmla="val 4082"/>
            </a:avLst>
          </a:prstGeom>
          <a:solidFill>
            <a:srgbClr val="FBF8F2"/>
          </a:solidFill>
          <a:ln/>
        </p:spPr>
      </p:sp>
      <p:sp>
        <p:nvSpPr>
          <p:cNvPr id="9" name="Shape 7"/>
          <p:cNvSpPr/>
          <p:nvPr/>
        </p:nvSpPr>
        <p:spPr>
          <a:xfrm>
            <a:off x="3505200" y="2743002"/>
            <a:ext cx="2489200" cy="3098998"/>
          </a:xfrm>
          <a:custGeom>
            <a:avLst/>
            <a:gdLst/>
            <a:ahLst/>
            <a:cxnLst/>
            <a:rect l="l" t="t" r="r" b="b"/>
            <a:pathLst>
              <a:path w="2489200" h="309899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387600" y="0"/>
                </a:lnTo>
                <a:arcTo hR="101600" wR="101600" stAng="16200000" swAng="5400000"/>
                <a:lnTo>
                  <a:pt x="24892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3035102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59200" y="3375422"/>
            <a:ext cx="204063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Matematyka ukryta w środku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97600" y="2743002"/>
            <a:ext cx="2489200" cy="3098998"/>
          </a:xfrm>
          <a:prstGeom prst="roundRect">
            <a:avLst>
              <a:gd name="adj" fmla="val 4082"/>
            </a:avLst>
          </a:prstGeom>
          <a:solidFill>
            <a:srgbClr val="FBF8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7600" y="2743002"/>
            <a:ext cx="2489200" cy="3098998"/>
          </a:xfrm>
          <a:custGeom>
            <a:avLst/>
            <a:gdLst/>
            <a:ahLst/>
            <a:cxnLst/>
            <a:rect l="l" t="t" r="r" b="b"/>
            <a:pathLst>
              <a:path w="2489200" h="309899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387600" y="0"/>
                </a:lnTo>
                <a:arcTo hR="101600" wR="101600" stAng="16200000" swAng="5400000"/>
                <a:lnTo>
                  <a:pt x="24892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3035102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1600" y="3375422"/>
            <a:ext cx="204063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Inteligencja bez neuronów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890000" y="2743002"/>
            <a:ext cx="2489200" cy="3098998"/>
          </a:xfrm>
          <a:prstGeom prst="roundRect">
            <a:avLst>
              <a:gd name="adj" fmla="val 4082"/>
            </a:avLst>
          </a:prstGeom>
          <a:solidFill>
            <a:srgbClr val="FBF8F2"/>
          </a:solidFill>
          <a:ln/>
        </p:spPr>
      </p:sp>
      <p:sp>
        <p:nvSpPr>
          <p:cNvPr id="17" name="Shape 15"/>
          <p:cNvSpPr/>
          <p:nvPr/>
        </p:nvSpPr>
        <p:spPr>
          <a:xfrm>
            <a:off x="8890000" y="2743002"/>
            <a:ext cx="2489200" cy="3098998"/>
          </a:xfrm>
          <a:custGeom>
            <a:avLst/>
            <a:gdLst/>
            <a:ahLst/>
            <a:cxnLst/>
            <a:rect l="l" t="t" r="r" b="b"/>
            <a:pathLst>
              <a:path w="2489200" h="3098998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387600" y="0"/>
                </a:lnTo>
                <a:arcTo hR="101600" wR="101600" stAng="16200000" swAng="5400000"/>
                <a:lnTo>
                  <a:pt x="24892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3035102"/>
            <a:ext cx="204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3375422"/>
            <a:ext cx="204063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Algorytmy, które żyją i odkrywają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A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10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300" kern="0" dirty="0">
                <a:solidFill>
                  <a:srgbClr val="0F14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8951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Sieci, których nie trzeba trenować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43710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2A24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Gdzie kończy się uczenie, a zaczyna fizyka?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 · 01 · RESERVOIR COMPUTING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Sieć, której nikt nie trenuje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Ogromna rekurencyjna sieć o całkowicie losowych wagach. Nikt ich nie trenuje, nigdy. Uczy się tylko liniowy odczyt na wyjściu, czyli zwykła regresja.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73102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mimo to sieć świetnie przewiduje chaotyczne szeregi czasowe.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Rezerwuarem było wiadro z wodą. Fale z silniczków, kamera i klasyfikator liniowy rozpoznawały słowa „zero” i „one” oraz liczyły XOR.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Jaeger 2001 (Echo State Networks) · Fernando &amp; Sojakka, „Pattern Recognition in a Bucket”, 2003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 · 02 · SUPERMASKI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Trening bez zmiany jednej wagi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Lottery Ticket Hypothesis: w dużej sieci ukryta jest mała podsieć, która uczy się równie dobrze.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778522"/>
            <a:ext cx="4898835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Ramanujan i in. poszli dalej: szukali podsieci w sieci losowej, w ogóle nie trenując wag. Uczenie sprowadziło się do decyzji, które połączenia wyciąć.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Losowy Wide ResNet-50 zawiera podsieć, która bez treningu wag dorównuje wytrenowanemu ResNet-34 na ImageNecie.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Frankle &amp; Carbin, ICLR 2019 · Ramanujan i in., „What's Hidden in a Randomly Weighted Neural Network?”, CVPR 2020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 · 03 · FIZYCZNE SIECI NEURONOWE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Głośnik jako warstwa sieci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Zamiast symulować neurony w krzemie, obliczenia wykonuje sam układ fizyczny. Jego naturalna dynamika staje się transformacją danych.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73102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Gradienty liczy się przez cyfrowy model układu (physics-aware training).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Backpropagacją wytrenowano głośnik, obwód analogowy i optykę nieliniową. Rozpoznają odręczne cyfry i samogłoski.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Wright, Onodera, McMahon i in., „Deep physical neural networks trained with backpropagation”, Nature 2022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A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10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300" kern="0" dirty="0">
                <a:solidFill>
                  <a:srgbClr val="0F14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8951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Matematyka ukryta w środku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43710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2A24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 naprawdę dzieje się w transformerze?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 · 04 · HOPFIELD = ATTENTION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Transformer to pamięć z 1982 roku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Mechanizm attention jest matematycznie regułą aktualizacji nowoczesnej sieci Hopfielda: ciągłej, o wykładniczej pojemności pamięci.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73102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Każde zapytanie w transformerze to przywołanie wzorca z pamięci asocjacyjnej.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 2024 Hopfield i Hinton dostali Nobla, z fizyki. Model pamięci zrodzony z fizyki szkieł spinowych pracuje dziś w każdym LLM-ie.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Hopfield, PNAS 1982 · Ramsauer i in., „Hopfield Networks is All You Need”, ICLR 2021 · Nobel z fizyki 2024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 · 05 · GROKKING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Nagłe olśnienie po tysiącach epok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Sieć ucząca się dodawania modulo p najpierw tylko zapamiętuje: 100% na treningu, zero generalizacji.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778522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Trening trwa dalej, nic się nie dzieje… aż nagle dokładność na teście skacze do 100%.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Sieć sama wymyśliła dyskretną transformatę Fouriera i tożsamości trygonometryczne. Dodaje liczby, obracając wektory po okręgu.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i in., 2022 · Nanda i in., „Progress measures for grokking via mechanistic interpretability”, ICLR 2023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 · 06 · SUPERPOZYCJA I CECHY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Model, który stał się mostem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Neurony LLM-ów są polisemantyczne: model upycha więcej pojęć, niż ma wymiarów. To superpozycja.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73102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Rzadkie autoenkodery rozplątują je na miliony interpretowalnych cech, od kodu po emocje.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Anthropic wzmocnił w Claude jedną cechę: „most Golden Gate”. Model zaczął twierdzić, że sam jest tym mostem.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Elhage i in., „Toy Models of Superposition”, 2022 · Templeton i in., „Scaling Monosemanticity”, Anthropic 2024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 · 07 · ARYTMETYKA ZADAŃ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Dodawanie i odejmowanie modeli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Weź model po fine-tuningu i odejmij od niego model bazowy.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778522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Różnica wag to „wektor zadania”: umiejętność zapisana jako kierunek w przestrzeni parametrów.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Odejmij wektor toksyczności: model jest mniej toksyczny. Dodaj dwa: umie obie rzeczy. king − man + woman, ale na całych modelach.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Ilharco i in., „Editing Models with Task Arithmetic”, ICLR 2023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 · 08 · IN-CONTEXT LEARNING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Uczenie wewnątrz forward passu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widzi kilka przykładów w prompcie i nagle „umie” nowe zadanie, choć wagi się nie zmieniają.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778522"/>
            <a:ext cx="489883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Jak to możliwe? Von Oswald i in. znaleźli mechanizm w wytrenowanych transformerach.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Warstwy attention wykonują kroki spadku gradientu na danych z promptu. Model trenuje mały model wewnątrz siebie, w trakcie wnioskowania.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von Oswald i in., „Transformers learn in-context by gradient descent”, ICML 2023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A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10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300" kern="0" dirty="0">
                <a:solidFill>
                  <a:srgbClr val="0F14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III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8951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Inteligencja bez sieci neuronowych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43710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2A24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Wektory, kompresja i śluzowiec.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III · 09 · HYPERDIMENSIONAL COMPUTING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Myślenie w 10 000 wymiarach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1203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Każde pojęcie to losowy wektor o ok. 10 000 wymiarach. Losowe wektory są tu prawie ortogonalne. Trzy operacje: wiązanie, sumowanie, permutacja.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367683"/>
            <a:ext cx="4756150" cy="820341"/>
          </a:xfrm>
          <a:prstGeom prst="roundRect">
            <a:avLst>
              <a:gd name="adj" fmla="val 9289"/>
            </a:avLst>
          </a:prstGeom>
          <a:solidFill>
            <a:srgbClr val="1A2233"/>
          </a:solidFill>
          <a:ln/>
        </p:spPr>
        <p:txBody>
          <a:bodyPr wrap="square" lIns="130082" tIns="130082" rIns="0" bIns="10468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2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 = KRAJ·usa + STOLICA·waszyngton + WALUTA·dolar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 ·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„Jaki jest dolar Meksyku?” Jedno mnożenie wektorów i odpowiedź brzmi: peso. Analogia bez treningu, w 20 linijkach NumPy.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Kanerva, „Hyperdimensional Computing”, Cognitive Computation 2009 · Kanerva, „What We Mean When We Say ‘What's the Dollar of Mexico?’”, 2010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III · 10 · KOMPRESJA JAKO KLASYFIKACJA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gzip kontra BERT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Jeśli dwa teksty kompresują się razem lepiej niż osobno, to są podobne. To znormalizowana odległość kompresyjna (NCD), a do tego kNN.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73102"/>
            <a:ext cx="5162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parametrów, zero GPU, ok. 14 linijek Pythona.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 ·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 kilku zbiorach dorównywał BERT-owi. Potem znaleziono błąd w ewaluacji, który zawyżał wyniki. Kompresja to rozumienie, ale papiery czytaj krytycznie.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Jiang i in., „Less is More: Parameter-Free Text Classification with Gzip”, Findings of ACL 2023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III · 11 · PHYSARUM POLYCEPHALUM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Śluzowiec projektuje kolej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Płatki owsiane ułożone jak miasta wokół Tokio. Jednokomórkowy śluzowiec rozrasta się, a potem wzmacnia rurki z przepływem i wygasza zbędne.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73102"/>
            <a:ext cx="48988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Jedna prosta reguła sprzężenia zwrotnego.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Powstała sieć dorównała rzeczywistej kolei wokół Tokio pod względem kosztu, efektywności i odporności na awarie.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Tero i in., „Rules for Biologically Inspired Adaptive Network Design”, Science 2010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A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10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300" kern="0" dirty="0">
                <a:solidFill>
                  <a:srgbClr val="0F14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IV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8951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Algorytmy, które żyją i odkrywają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43710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2A24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Regeneracja, minimalizm i maszyny wynalazców.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IV · 12 · NEURAL CELLULAR AUTOMATA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Jaszczurka, której odrasta ogon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6961"/>
            <a:ext cx="4898835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Każdy piksel to komórka z tą samą, małą siecią neuronową. Widzi tylko sąsiadów i nie wie nic o całości.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73102"/>
            <a:ext cx="51625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 jednej komórki-nasiona wyrasta kompletny obraz.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75350" y="2036961"/>
            <a:ext cx="5403850" cy="3805039"/>
          </a:xfrm>
          <a:prstGeom prst="roundRect">
            <a:avLst>
              <a:gd name="adj" fmla="val 2670"/>
            </a:avLst>
          </a:prstGeom>
          <a:solidFill>
            <a:srgbClr val="1A2233"/>
          </a:solidFill>
          <a:ln/>
        </p:spPr>
      </p:sp>
      <p:sp>
        <p:nvSpPr>
          <p:cNvPr id="7" name="Shape 5"/>
          <p:cNvSpPr/>
          <p:nvPr/>
        </p:nvSpPr>
        <p:spPr>
          <a:xfrm>
            <a:off x="5975350" y="2036961"/>
            <a:ext cx="5403850" cy="3805039"/>
          </a:xfrm>
          <a:custGeom>
            <a:avLst/>
            <a:gdLst/>
            <a:ahLst/>
            <a:cxnLst/>
            <a:rect l="l" t="t" r="r" b="b"/>
            <a:pathLst>
              <a:path w="5403850" h="3805039">
                <a:moveTo>
                  <a:pt x="101600" y="3805039"/>
                </a:moveTo>
                <a:lnTo>
                  <a:pt x="101600" y="380503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3703439"/>
                </a:lnTo>
                <a:arcTo hR="101600" wR="63500" stAng="10800000" swAng="-5400000"/>
                <a:close/>
              </a:path>
            </a:pathLst>
          </a:cu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318250" y="2341761"/>
            <a:ext cx="48988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MOMENT SZCZĘKI ·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18250" y="2682081"/>
            <a:ext cx="489883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Odetnij jaszczurce ogon, a odrośnie. Regeneracja nie jest zaprogramowana: wyłania się z lokalnych reguł.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Mordvintsev, Randazzo, Niklasson, Levin, „Growing Neural Cellular Automata”, Distill 2020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IV · 13 · NEURAL CIRCUIT POLICIES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Ile neuronów prowadzi samochód?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796480"/>
            <a:ext cx="3401060" cy="2311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E8A3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21200" y="3261420"/>
            <a:ext cx="706374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Sterowanie inspirowane układem nerwowym nicienia C. elegans.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21200" y="3733800"/>
            <a:ext cx="7063740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neuronów sterujących utrzymuje auto w pasie ruchu, porównywalnie z sieciami o rzędy wielkości większymi. Ich decyzje da się prześledzić i zinterpretować.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Lechner, Hasani i in., „Neural circuit policies enabling auditable autonomy”, Nature Machine Intelligence 2020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AKT IV · 14 · ALPHAEVOLVE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EEE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Rekord, który trwał 56 lat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3129260"/>
            <a:ext cx="4709160" cy="1295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8A3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49 → 48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12800" y="4500860"/>
            <a:ext cx="47091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mnożeń dla macierzy 4×4 o wartościach zespolonych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91200" y="3088680"/>
            <a:ext cx="575564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Od Strassena (1969) najlepszy znany przepis wymagał 49 mnożeń.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91200" y="3830241"/>
            <a:ext cx="5755640" cy="9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EE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 2025 roku AlphaEvolve, czyli LLM sprzężony z ewolucyjnym przeszukiwaniem kodu, znalazł wariant z 48.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7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DeepMind, „AlphaEvolve: A coding agent for scientific and algorithmic discovery”, 2025 · Strassen, 1969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7592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5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PUENTA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29570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0F14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Inteligencja nie mieszka w neuronach.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227810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3A42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Mieszka w strukturze, kompresji i dynamice. Wiadro wody, śluzowiec i transformer robią w gruncie rzeczy to samo.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orytmy, o których nikt nie mówi">
  <a:themeElements>
    <a:clrScheme name="Algorytmy, o których nikt nie mówi">
      <a:dk1>
        <a:srgbClr val="0F1420"/>
      </a:dk1>
      <a:lt1>
        <a:srgbClr val="F2EEE6"/>
      </a:lt1>
      <a:dk2>
        <a:srgbClr val="262A34"/>
      </a:dk2>
      <a:lt2>
        <a:srgbClr val="B9B8B5"/>
      </a:lt2>
      <a:accent1>
        <a:srgbClr val="E8A33D"/>
      </a:accent1>
      <a:accent2>
        <a:srgbClr val="9A5B0C"/>
      </a:accent2>
      <a:accent3>
        <a:srgbClr val="B9C3D0"/>
      </a:accent3>
      <a:accent4>
        <a:srgbClr val="7D8796"/>
      </a:accent4>
      <a:accent5>
        <a:srgbClr val="2A2418"/>
      </a:accent5>
      <a:accent6>
        <a:srgbClr val="3A4250"/>
      </a:accent6>
      <a:hlink>
        <a:srgbClr val="0563C1"/>
      </a:hlink>
      <a:folHlink>
        <a:srgbClr val="954F72"/>
      </a:folHlink>
    </a:clrScheme>
    <a:fontScheme name="Algorytmy, o których nikt nie mówi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Algorytmy, o których nikt nie mówi</dc:title>
  <dc:subject/>
  <dc:creator/>
  <cp:lastModifiedBy/>
  <cp:revision>1</cp:revision>
  <dcterms:created xsi:type="dcterms:W3CDTF">2026-10-13T07:11:34Z</dcterms:created>
  <dcterms:modified xsi:type="dcterms:W3CDTF">2026-10-13T07:11:34Z</dcterms:modified>
</cp:coreProperties>
</file>